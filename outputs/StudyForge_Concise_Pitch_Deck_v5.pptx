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e60ed4a97d40fa" /><Relationship Type="http://schemas.openxmlformats.org/officeDocument/2006/relationships/extended-properties" Target="/docProps/app.xml" Id="R6b10e80e0bd34f57" /><Relationship Type="http://schemas.openxmlformats.org/officeDocument/2006/relationships/officeDocument" Target="/ppt/presentation.xml" Id="R4c99213edce84c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037fd1d35c4cd7"/>
  </p:sldMasterIdLst>
  <p:notesMasterIdLst>
    <p:notesMasterId xmlns:r="http://schemas.openxmlformats.org/officeDocument/2006/relationships" r:id="R382e38590cf34d24"/>
  </p:notesMasterIdLst>
  <p:sldIdLst>
    <p:sldId xmlns:r="http://schemas.openxmlformats.org/officeDocument/2006/relationships" id="256" r:id="Rae994d2d01534ccb"/>
    <p:sldId xmlns:r="http://schemas.openxmlformats.org/officeDocument/2006/relationships" id="257" r:id="R3e4de5926f0d48bf"/>
    <p:sldId xmlns:r="http://schemas.openxmlformats.org/officeDocument/2006/relationships" id="258" r:id="R82e6779a9a694335"/>
    <p:sldId xmlns:r="http://schemas.openxmlformats.org/officeDocument/2006/relationships" id="259" r:id="R428f28b47959412b"/>
    <p:sldId xmlns:r="http://schemas.openxmlformats.org/officeDocument/2006/relationships" id="260" r:id="Rfde8eaf514a84b17"/>
    <p:sldId xmlns:r="http://schemas.openxmlformats.org/officeDocument/2006/relationships" id="261" r:id="Rfdd1aba3ac3544f9"/>
    <p:sldId xmlns:r="http://schemas.openxmlformats.org/officeDocument/2006/relationships" id="262" r:id="R2b1baaa790aa46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b51848622242d3" /><Relationship Type="http://schemas.openxmlformats.org/officeDocument/2006/relationships/slideMaster" Target="/ppt/slideMasters/slideMaster1.xml" Id="R4f037fd1d35c4cd7" /><Relationship Type="http://schemas.openxmlformats.org/officeDocument/2006/relationships/notesMaster" Target="/ppt/notesMasters/notesMaster1.xml" Id="R382e38590cf34d24" /><Relationship Type="http://schemas.openxmlformats.org/officeDocument/2006/relationships/presProps" Target="/ppt/presProps.xml" Id="R96934867dd604249" /><Relationship Type="http://schemas.openxmlformats.org/officeDocument/2006/relationships/tableStyles" Target="/ppt/tableStyles.xml" Id="R76879751ce664b3f" /><Relationship Type="http://schemas.openxmlformats.org/officeDocument/2006/relationships/slide" Target="/ppt/slides/slide1.xml" Id="Rae994d2d01534ccb" /><Relationship Type="http://schemas.openxmlformats.org/officeDocument/2006/relationships/slide" Target="/ppt/slides/slide2.xml" Id="R3e4de5926f0d48bf" /><Relationship Type="http://schemas.openxmlformats.org/officeDocument/2006/relationships/slide" Target="/ppt/slides/slide3.xml" Id="R82e6779a9a694335" /><Relationship Type="http://schemas.openxmlformats.org/officeDocument/2006/relationships/slide" Target="/ppt/slides/slide4.xml" Id="R428f28b47959412b" /><Relationship Type="http://schemas.openxmlformats.org/officeDocument/2006/relationships/slide" Target="/ppt/slides/slide5.xml" Id="Rfde8eaf514a84b17" /><Relationship Type="http://schemas.openxmlformats.org/officeDocument/2006/relationships/slide" Target="/ppt/slides/slide6.xml" Id="Rfdd1aba3ac3544f9" /><Relationship Type="http://schemas.openxmlformats.org/officeDocument/2006/relationships/slide" Target="/ppt/slides/slide7.xml" Id="R2b1baaa790aa46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685c54c9c749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712d09ca864d48" /><Relationship Type="http://schemas.openxmlformats.org/officeDocument/2006/relationships/notesMaster" Target="/ppt/notesMasters/notesMaster1.xml" Id="Rbc24a847259747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d8636400f44118" /><Relationship Type="http://schemas.openxmlformats.org/officeDocument/2006/relationships/notesMaster" Target="/ppt/notesMasters/notesMaster1.xml" Id="Rd7fbe68d30f444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16ca898c19484f" /><Relationship Type="http://schemas.openxmlformats.org/officeDocument/2006/relationships/notesMaster" Target="/ppt/notesMasters/notesMaster1.xml" Id="Rafd8228e275a43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76a80d146d4d64" /><Relationship Type="http://schemas.openxmlformats.org/officeDocument/2006/relationships/notesMaster" Target="/ppt/notesMasters/notesMaster1.xml" Id="R02a55fe89ffa43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a6294cb6a64b04" /><Relationship Type="http://schemas.openxmlformats.org/officeDocument/2006/relationships/notesMaster" Target="/ppt/notesMasters/notesMaster1.xml" Id="R9904213c238e4e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34881d1e4a49bb" /><Relationship Type="http://schemas.openxmlformats.org/officeDocument/2006/relationships/notesMaster" Target="/ppt/notesMasters/notesMaster1.xml" Id="R06d6290449724d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fc1f51e6eb40f6" /><Relationship Type="http://schemas.openxmlformats.org/officeDocument/2006/relationships/notesMaster" Target="/ppt/notesMasters/notesMaster1.xml" Id="R9f7e9fe3a41746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The positioning sentence reflects the current About page and topic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Problem framing comes from the previously supplied pitch scope and the current product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The four-step route reflects the current topic hub: Learn, Remember, Practice and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Feature descriptions come from current StudyForge routes and interface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Privacy and free-access boundaries come from previously supplied StudyForge requirements and current dashboard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Pilot scope is a proposal, not a claim of an existing school rollout or current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The final ask is intentionally limited to a defined pilot. No numerical outcomes are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68f8b1d2644d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7e5c3bb051472d" /><Relationship Type="http://schemas.openxmlformats.org/officeDocument/2006/relationships/slideLayout" Target="/ppt/slideLayouts/slideLayout1.xml" Id="R8a539086cec04b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539086cec04b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0b864f7004be7" /><Relationship Type="http://schemas.openxmlformats.org/officeDocument/2006/relationships/image" Target="/ppt/media/image.png" Id="R4d7cb440b5bb463b" /><Relationship Type="http://schemas.openxmlformats.org/officeDocument/2006/relationships/notesSlide" Target="/ppt/notesSlides/notesSlide1.xml" Id="Rf78557b0353346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216e89b854eab" /><Relationship Type="http://schemas.openxmlformats.org/officeDocument/2006/relationships/image" Target="/ppt/media/image2.png" Id="R9dc826923f2a4808" /><Relationship Type="http://schemas.openxmlformats.org/officeDocument/2006/relationships/notesSlide" Target="/ppt/notesSlides/notesSlide2.xml" Id="Re69367beb0094c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911c209c14bae" /><Relationship Type="http://schemas.openxmlformats.org/officeDocument/2006/relationships/image" Target="/ppt/media/image3.png" Id="R12f87048f7554206" /><Relationship Type="http://schemas.openxmlformats.org/officeDocument/2006/relationships/notesSlide" Target="/ppt/notesSlides/notesSlide3.xml" Id="R48bb752fec2d4d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d7d7b2ada4f07" /><Relationship Type="http://schemas.openxmlformats.org/officeDocument/2006/relationships/image" Target="/ppt/media/image4.png" Id="R92f6fd6c5fea419b" /><Relationship Type="http://schemas.openxmlformats.org/officeDocument/2006/relationships/notesSlide" Target="/ppt/notesSlides/notesSlide4.xml" Id="Rfccb211238dd41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58b5bd1cd4fdb" /><Relationship Type="http://schemas.openxmlformats.org/officeDocument/2006/relationships/image" Target="/ppt/media/image5.png" Id="Rc27b1996b3a14bda" /><Relationship Type="http://schemas.openxmlformats.org/officeDocument/2006/relationships/notesSlide" Target="/ppt/notesSlides/notesSlide5.xml" Id="Rcb41e8a69efd48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50b9228d34e7b" /><Relationship Type="http://schemas.openxmlformats.org/officeDocument/2006/relationships/image" Target="/ppt/media/image6.png" Id="Rbbfe4c5c69814204" /><Relationship Type="http://schemas.openxmlformats.org/officeDocument/2006/relationships/notesSlide" Target="/ppt/notesSlides/notesSlide6.xml" Id="R936cc33c840c46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60cc9eff440bb" /><Relationship Type="http://schemas.openxmlformats.org/officeDocument/2006/relationships/image" Target="/ppt/media/image7.png" Id="Rce6b95a4fed24a68" /><Relationship Type="http://schemas.openxmlformats.org/officeDocument/2006/relationships/notesSlide" Target="/ppt/notesSlides/notesSlide7.xml" Id="Rf46e9e490bae40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E9F678-AA24-4C38-B4C4-79E448E3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3016A-8676-4376-8373-D626A66F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37957-314F-47AA-96C2-16B603AE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B44BD-4A69-4776-A873-68A8D0C7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Revision with a</a:t>
            </a:r>
          </a:p>
          <a:p xmlns:a="http://schemas.openxmlformats.org/drawingml/2006/main">
            <a:pPr algn="l">
              <a:defRPr sz="45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clear next step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FA485-33D9-4596-A385-EF6148F6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StudyForge connects learning, recall and practice in one student-first platform.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8BC18-11AE-4B4A-9C88-5E48B647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19BFD-5EEB-4086-8678-FA59E06F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CONCISE PRODUCT PITCH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cb440b5bb463b"/>
          <a:stretch xmlns:a="http://schemas.openxmlformats.org/drawingml/2006/main"/>
        </p:blipFill>
        <p:spPr>
          <a:xfrm xmlns:a="http://schemas.openxmlformats.org/drawingml/2006/main">
            <a:off x="7524750" y="1452929"/>
            <a:ext cx="3886200" cy="343779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3B82E9-CD43-46E3-B478-ED080E31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A437D-F737-44EF-890D-148D1A52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202084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24881F-5F91-43E4-878A-4948DFF2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C5A98-6631-4CE7-B17E-A10AF12E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D825F-289F-49A7-84FB-551AD8EF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Revision loses momentum between resources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5BB3B-DB09-4520-9100-7E8DD70A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The work is spread across separate places, so students must rebuild the route each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11D5B-FD43-4EDE-97CE-FD524FE0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2A496-1E0B-4615-98E0-074A3475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826923f2a4808"/>
          <a:stretch xmlns:a="http://schemas.openxmlformats.org/drawingml/2006/main"/>
        </p:blipFill>
        <p:spPr>
          <a:xfrm xmlns:a="http://schemas.openxmlformats.org/drawingml/2006/main">
            <a:off x="886239" y="2571750"/>
            <a:ext cx="2609022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ABA46-BF2C-452E-93CD-0605F643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The core friction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FA4EF-FE88-466D-8B9C-2F7E0F94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0375"/>
            <a:ext cx="6362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Students move between notes, flashcards and questions without a clear handoff.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5EF189-56F0-4911-B962-2DE8C188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10050"/>
            <a:ext cx="636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24E21-1DA1-4A51-B214-0A478090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5295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Practice also stalls when the useful question supply runs out.</a:t>
            </a:r>
          </a:p>
        </p:txBody>
      </p:sp>
    </p:spTree>
    <p:extLst>
      <p:ext uri="{BB962C8B-B14F-4D97-AF65-F5344CB8AC3E}">
        <p14:creationId xmlns:p14="http://schemas.microsoft.com/office/powerpoint/2010/main" val="18584019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076F81-1AA9-41BC-83CF-02FAE472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9F32D-78E2-4DFF-B092-A4895FFF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2045F-A3BA-44AF-B47F-D99A1E08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One connected revision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C47A0-4C8C-4F45-AFFC-966BB1D9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Each step prepares the student for the next 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DB595-5BFD-4654-89DE-D2AA14C2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8DF27E-3CCE-47FD-98E1-C69C73C4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f87048f7554206"/>
          <a:stretch xmlns:a="http://schemas.openxmlformats.org/drawingml/2006/main"/>
        </p:blipFill>
        <p:spPr>
          <a:xfrm xmlns:a="http://schemas.openxmlformats.org/drawingml/2006/main">
            <a:off x="609600" y="2514384"/>
            <a:ext cx="3067050" cy="285793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7B9CB-616D-4B2B-8323-4412D94C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81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46F122-5F26-4CB4-936E-5BA497C0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145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Learn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C23F51-0C3A-49AA-AF88-2C206DFB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622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Focused notes explain the 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9B221F-8A0E-4394-8D17-6A724D0F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BCFB5D-4623-47F3-B5C0-2F86BCAE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76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87B05B-B749-4205-8977-91C1D3C9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099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Recall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201DAB-4176-4ADA-A338-7E512383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575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Flashcards bring key ideas 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E5FD5E-C716-4099-8538-911D24EC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1000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7CADEC-57CF-4C8E-B60E-5C71FC55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7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FDD096-59B2-48A7-B478-20C377D0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052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Practice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E6D48F-E94C-49D6-B690-653A6E16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529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Original questions build application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C2666F-00CB-461C-992A-435F61A1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053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F3DD05-2760-478D-B25A-7CBC78F2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67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8DF902-06F5-4439-BEF5-569772BB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006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F5356F-56BA-41B2-BBA7-6AA5FBB1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48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Topic tests and papers check readiness</a:t>
            </a:r>
          </a:p>
        </p:txBody>
      </p:sp>
    </p:spTree>
    <p:extLst>
      <p:ext uri="{BB962C8B-B14F-4D97-AF65-F5344CB8AC3E}">
        <p14:creationId xmlns:p14="http://schemas.microsoft.com/office/powerpoint/2010/main" val="19758620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B5F7D5-65BA-464E-A4B3-D747E453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A224A-99F5-462F-A004-6B5FE47D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6B809-DE18-406A-AE70-F9CCEECC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The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10F79-48C1-42E4-85AD-E623A36E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A focused toolkit around the revision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21955-AE6D-446B-86B3-C5EA0414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33C2C-1552-4CA9-ABE5-59FAFF72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6fd6c5fea419b"/>
          <a:stretch xmlns:a="http://schemas.openxmlformats.org/drawingml/2006/main"/>
        </p:blipFill>
        <p:spPr>
          <a:xfrm xmlns:a="http://schemas.openxmlformats.org/drawingml/2006/main">
            <a:off x="7677150" y="2549669"/>
            <a:ext cx="3219450" cy="30731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FE954-C25D-4453-B878-26B2C240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Revision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09FC9-43FF-41D4-950A-71BEE742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384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Methods and worked examples organised by topic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E6E64-235B-4E4B-BA47-861F133D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6229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5EF85-B6BB-4297-ADA1-7D625F3D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Flashcards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43F51-D032-4261-A2F9-10E1D102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766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8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Recall practice from published or uploaded decks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30DE16-3A3C-429A-9DA3-17686257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6229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9FFADF-45A2-4446-9FB9-F77DE249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Practice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94FA8B-3164-4684-B7E8-F7E09820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148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Original questions with 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AF214E-94A7-4195-BC55-29DF438C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6229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286333-6567-4B5D-940F-D0FF4EEC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Testing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6BA1AF-D529-4A86-8017-5E63C01C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530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Topic tests with a route toward past papers</a:t>
            </a:r>
          </a:p>
        </p:txBody>
      </p:sp>
    </p:spTree>
    <p:extLst>
      <p:ext uri="{BB962C8B-B14F-4D97-AF65-F5344CB8AC3E}">
        <p14:creationId xmlns:p14="http://schemas.microsoft.com/office/powerpoint/2010/main" val="1186030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620227-89F0-4C66-BC55-3F08765C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7DFCB-C5F3-4C05-A832-185A1658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E950A-0155-4304-B339-0E54CCB1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Students keep control of independent revision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30DC3-F3ED-4AEE-AFCF-30560D06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Teacher visibility begins only when work is assigned.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08381-907F-4BD6-87F5-79D2D244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23FC0-FE25-41BC-813E-85E70586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7b1996b3a14bda"/>
          <a:stretch xmlns:a="http://schemas.openxmlformats.org/drawingml/2006/main"/>
        </p:blipFill>
        <p:spPr>
          <a:xfrm xmlns:a="http://schemas.openxmlformats.org/drawingml/2006/main">
            <a:off x="850745" y="2552700"/>
            <a:ext cx="2984810" cy="27813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6799F-30AF-466F-BF56-18EEC1B9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PRIVATE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75A56-DC91-453A-9212-E0C64506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479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Independent study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D3AC5-5379-43AD-B3A3-974F790D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Teachers do not see a student’s self-directed revision activity.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36E587-E598-4D48-92C6-D33585EE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71950"/>
            <a:ext cx="598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E51B4-741A-4757-98F0-9D620C8F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57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TRACEABLE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F8581C-941E-4996-BE38-044DCAD6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101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Assigned homework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A7434B-BDAF-4269-9C28-80DCED7D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244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Teachers can review completion and answers for compulsory 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1AD9B9-2323-4409-BF43-A2D8AFF9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EFE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043199-7E36-4C04-B6F1-8DCDAD65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388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B1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B115A"/>
                </a:solidFill>
                <a:latin typeface="Helvetica Neue"/>
                <a:ea typeface="Helvetica Neue"/>
                <a:cs typeface="Helvetica Neue"/>
              </a:rPr>
              <a:t>Student access remains free.</a:t>
            </a:r>
          </a:p>
        </p:txBody>
      </p:sp>
    </p:spTree>
    <p:extLst>
      <p:ext uri="{BB962C8B-B14F-4D97-AF65-F5344CB8AC3E}">
        <p14:creationId xmlns:p14="http://schemas.microsoft.com/office/powerpoint/2010/main" val="9063886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FCB776-445D-41BA-97F1-47D6841B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E5C8A-EF7B-4B33-B074-A4F449E2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B3C7C-9BCB-4538-BB5F-207FE912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A focused school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9E780-E0C0-4286-8A25-35316216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Proposed scope, subject to agreement with the participating school.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49EBE-75A4-477B-BD18-BD90026C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0787C-2E84-4BC8-A901-2828A518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1A11B-BF6F-4691-AF5B-6B5D3FF1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Initial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0DF95-2AA0-4658-B11E-A9CC2B6F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733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Maths</a:t>
            </a:r>
          </a:p>
          <a:p xmlns:a="http://schemas.openxmlformats.org/drawingml/2006/main">
            <a:pPr algn="l">
              <a:defRPr sz="337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KS4 and below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1B3F6-5F08-46E5-9320-3E3E6DA0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381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Start with one defined cohort and a manageable topic range.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fe4c5c69814204"/>
          <a:stretch xmlns:a="http://schemas.openxmlformats.org/drawingml/2006/main"/>
        </p:blipFill>
        <p:spPr>
          <a:xfrm xmlns:a="http://schemas.openxmlformats.org/drawingml/2006/main">
            <a:off x="4400550" y="2754923"/>
            <a:ext cx="2381250" cy="2014904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54A908-FFF4-4C81-A27B-78A0E0BB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146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807E7-AFED-4DA4-BEFC-9FBA47EA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860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Set the 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72307C-EAA7-4DA0-9F58-4FF143B6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8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Agree topics, classes and teacher contacts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234A9-809C-49BA-9974-37D6DD16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814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A14F73-27CA-498D-BFA2-365AD1B9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528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Run the 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D8633A-678B-446C-8E95-200AA840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243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Use revision materials and assigned tasks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E99A1B-85A6-46B3-BD56-56C77031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48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2D03A7-126D-4DE3-ADB8-092C18FF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196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Review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9D5A52-4727-44E6-9E84-D74F7233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911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3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Examine participation, answers and feedback</a:t>
            </a:r>
          </a:p>
        </p:txBody>
      </p:sp>
    </p:spTree>
    <p:extLst>
      <p:ext uri="{BB962C8B-B14F-4D97-AF65-F5344CB8AC3E}">
        <p14:creationId xmlns:p14="http://schemas.microsoft.com/office/powerpoint/2010/main" val="11976721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B11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C02770-0E16-464D-A84A-0D6373E3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EBC21-E1F3-4C46-A397-C46C342E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FF1D4-FF73-41F8-AB75-57681CD9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The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EC3DF-62A3-448A-80CE-CFCF1843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742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Pilot StudyForge with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defined maths cohort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2D038-CB8A-4C94-973E-A8043DA4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45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A9E0D-BD71-4F1F-BE2D-86D126BC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FDF23-E9EA-49BF-9CF5-7680D833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433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Agree the topic range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AB37C-F73B-454E-AD43-CB475379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FCD3B-4BDC-4768-A949-C469E852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529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Nominate a teacher contact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385154-D0D6-4F0C-ACFC-2C26ECA1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5D5831-8C62-4E9A-9BB8-FAB8A2EC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625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Choose the student cohort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62278-E1C9-4F2F-B489-97E20ED5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38350"/>
            <a:ext cx="3371850" cy="3524250"/>
          </a:xfrm>
          <a:prstGeom xmlns:a="http://schemas.openxmlformats.org/drawingml/2006/main" prst="roundRect">
            <a:avLst>
              <a:gd name="adj" fmla="val 79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b95a4fed24a68"/>
          <a:stretch xmlns:a="http://schemas.openxmlformats.org/drawingml/2006/main"/>
        </p:blipFill>
        <p:spPr>
          <a:xfrm xmlns:a="http://schemas.openxmlformats.org/drawingml/2006/main">
            <a:off x="8382000" y="2506266"/>
            <a:ext cx="2914650" cy="2550319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A2402-CEF9-4FE9-904B-A60D68F2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Free student access. Private independent revision. Traceable assigned homework.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83A8A3-0748-4A20-A433-49F4010D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7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28D64A-7AAE-4FD5-A1BF-954253DA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841165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2026-10-01T03:10:14.4690000Z</dcterms:created>
  <dcterms:modified xsi:type="dcterms:W3CDTF">2026-10-01T03:10:14.4700000Z</dcterms:modified>
</coreProperties>
</file>