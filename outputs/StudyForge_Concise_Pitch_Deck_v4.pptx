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15272b1c4d4d38" /><Relationship Type="http://schemas.openxmlformats.org/officeDocument/2006/relationships/extended-properties" Target="/docProps/app.xml" Id="Rc08318182d8f497e" /><Relationship Type="http://schemas.openxmlformats.org/officeDocument/2006/relationships/officeDocument" Target="/ppt/presentation.xml" Id="Rf25a94aea9564d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c2511845a046d9"/>
  </p:sldMasterIdLst>
  <p:notesMasterIdLst>
    <p:notesMasterId xmlns:r="http://schemas.openxmlformats.org/officeDocument/2006/relationships" r:id="R561475abf2f54de2"/>
  </p:notesMasterIdLst>
  <p:sldIdLst>
    <p:sldId xmlns:r="http://schemas.openxmlformats.org/officeDocument/2006/relationships" id="256" r:id="R38091811506c4653"/>
    <p:sldId xmlns:r="http://schemas.openxmlformats.org/officeDocument/2006/relationships" id="257" r:id="R0938f47c614c4213"/>
    <p:sldId xmlns:r="http://schemas.openxmlformats.org/officeDocument/2006/relationships" id="258" r:id="R8841bdd492e34196"/>
    <p:sldId xmlns:r="http://schemas.openxmlformats.org/officeDocument/2006/relationships" id="259" r:id="R37f71dd72c7347c4"/>
    <p:sldId xmlns:r="http://schemas.openxmlformats.org/officeDocument/2006/relationships" id="260" r:id="Rc3756b80bd654d43"/>
    <p:sldId xmlns:r="http://schemas.openxmlformats.org/officeDocument/2006/relationships" id="261" r:id="Rde91634657f745ee"/>
    <p:sldId xmlns:r="http://schemas.openxmlformats.org/officeDocument/2006/relationships" id="262" r:id="R2cee6440efdf48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8c3c93a4f1474f" /><Relationship Type="http://schemas.openxmlformats.org/officeDocument/2006/relationships/slideMaster" Target="/ppt/slideMasters/slideMaster1.xml" Id="Rfdc2511845a046d9" /><Relationship Type="http://schemas.openxmlformats.org/officeDocument/2006/relationships/notesMaster" Target="/ppt/notesMasters/notesMaster1.xml" Id="R561475abf2f54de2" /><Relationship Type="http://schemas.openxmlformats.org/officeDocument/2006/relationships/presProps" Target="/ppt/presProps.xml" Id="R65422c0426e1469d" /><Relationship Type="http://schemas.openxmlformats.org/officeDocument/2006/relationships/tableStyles" Target="/ppt/tableStyles.xml" Id="Rbc10cad5aed24a30" /><Relationship Type="http://schemas.openxmlformats.org/officeDocument/2006/relationships/slide" Target="/ppt/slides/slide1.xml" Id="R38091811506c4653" /><Relationship Type="http://schemas.openxmlformats.org/officeDocument/2006/relationships/slide" Target="/ppt/slides/slide2.xml" Id="R0938f47c614c4213" /><Relationship Type="http://schemas.openxmlformats.org/officeDocument/2006/relationships/slide" Target="/ppt/slides/slide3.xml" Id="R8841bdd492e34196" /><Relationship Type="http://schemas.openxmlformats.org/officeDocument/2006/relationships/slide" Target="/ppt/slides/slide4.xml" Id="R37f71dd72c7347c4" /><Relationship Type="http://schemas.openxmlformats.org/officeDocument/2006/relationships/slide" Target="/ppt/slides/slide5.xml" Id="Rc3756b80bd654d43" /><Relationship Type="http://schemas.openxmlformats.org/officeDocument/2006/relationships/slide" Target="/ppt/slides/slide6.xml" Id="Rde91634657f745ee" /><Relationship Type="http://schemas.openxmlformats.org/officeDocument/2006/relationships/slide" Target="/ppt/slides/slide7.xml" Id="R2cee6440efdf48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ebc973711e4a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b9898899043f8" /><Relationship Type="http://schemas.openxmlformats.org/officeDocument/2006/relationships/notesMaster" Target="/ppt/notesMasters/notesMaster1.xml" Id="Ra2aa5f442a7843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6903b34b12467d" /><Relationship Type="http://schemas.openxmlformats.org/officeDocument/2006/relationships/notesMaster" Target="/ppt/notesMasters/notesMaster1.xml" Id="R2dd6b0a3ee514c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fd80ccb5994e0c" /><Relationship Type="http://schemas.openxmlformats.org/officeDocument/2006/relationships/notesMaster" Target="/ppt/notesMasters/notesMaster1.xml" Id="Ra332fcf6ef7c47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842df9eb034053" /><Relationship Type="http://schemas.openxmlformats.org/officeDocument/2006/relationships/notesMaster" Target="/ppt/notesMasters/notesMaster1.xml" Id="R11a2b169058d49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1765136fa14fb7" /><Relationship Type="http://schemas.openxmlformats.org/officeDocument/2006/relationships/notesMaster" Target="/ppt/notesMasters/notesMaster1.xml" Id="R0a4ff3b3201a4f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9f8cde32094b6c" /><Relationship Type="http://schemas.openxmlformats.org/officeDocument/2006/relationships/notesMaster" Target="/ppt/notesMasters/notesMaster1.xml" Id="R8b43a7a1ea7d45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2768a5a3734027" /><Relationship Type="http://schemas.openxmlformats.org/officeDocument/2006/relationships/notesMaster" Target="/ppt/notesMasters/notesMaster1.xml" Id="R2c4c7c3db2c04d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positioning sentence reflects the current About page and topic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Problem framing comes from the previously supplied pitch scope and the current product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four-step route reflects the current topic hub: Learn, Remember, Practice and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Feature descriptions come from current StudyForge routes and interface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Privacy and free-access boundaries come from previously supplied StudyForge requirements and current dashboard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Pilot scope is a proposal, not a claim of an existing school rollout or current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StudyForge illustration sheet at /Users/samle/Downloads/studyforge/assets.svg; current StudyForge project files in /Users/samle/Documents/Codex/web/studyforge/studyforge. The final ask is intentionally limited to a defined pilot. No numerical outcomes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7e2d1c4104e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58dff469db40d7" /><Relationship Type="http://schemas.openxmlformats.org/officeDocument/2006/relationships/slideLayout" Target="/ppt/slideLayouts/slideLayout1.xml" Id="R29f00bdb30ad43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f00bdb30ad43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afec39ce544b1" /><Relationship Type="http://schemas.openxmlformats.org/officeDocument/2006/relationships/image" Target="/ppt/media/image.png" Id="R56685fdd5875473e" /><Relationship Type="http://schemas.openxmlformats.org/officeDocument/2006/relationships/notesSlide" Target="/ppt/notesSlides/notesSlide1.xml" Id="R40909834130a4f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3361075c34dcf" /><Relationship Type="http://schemas.openxmlformats.org/officeDocument/2006/relationships/image" Target="/ppt/media/image2.png" Id="R01b5dedeee5742b5" /><Relationship Type="http://schemas.openxmlformats.org/officeDocument/2006/relationships/notesSlide" Target="/ppt/notesSlides/notesSlide2.xml" Id="R31af13d8920c41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283f69701492d" /><Relationship Type="http://schemas.openxmlformats.org/officeDocument/2006/relationships/image" Target="/ppt/media/image3.png" Id="Rda50749ea0ba4ac0" /><Relationship Type="http://schemas.openxmlformats.org/officeDocument/2006/relationships/notesSlide" Target="/ppt/notesSlides/notesSlide3.xml" Id="R56b785f1e1d84a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3964d16664fcc" /><Relationship Type="http://schemas.openxmlformats.org/officeDocument/2006/relationships/image" Target="/ppt/media/image4.png" Id="Rb37106821fc84350" /><Relationship Type="http://schemas.openxmlformats.org/officeDocument/2006/relationships/notesSlide" Target="/ppt/notesSlides/notesSlide4.xml" Id="R6d832489655240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b961d74bb4433" /><Relationship Type="http://schemas.openxmlformats.org/officeDocument/2006/relationships/image" Target="/ppt/media/image5.png" Id="Re75d7a0ed91d4a1d" /><Relationship Type="http://schemas.openxmlformats.org/officeDocument/2006/relationships/notesSlide" Target="/ppt/notesSlides/notesSlide5.xml" Id="R27c06f339d2540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fed9deab414b" /><Relationship Type="http://schemas.openxmlformats.org/officeDocument/2006/relationships/image" Target="/ppt/media/image6.png" Id="Rd0f4efe434ad4e3c" /><Relationship Type="http://schemas.openxmlformats.org/officeDocument/2006/relationships/notesSlide" Target="/ppt/notesSlides/notesSlide6.xml" Id="R14585ddfe8e142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d1b8dadde4370" /><Relationship Type="http://schemas.openxmlformats.org/officeDocument/2006/relationships/image" Target="/ppt/media/image7.png" Id="R15a12e9c70964741" /><Relationship Type="http://schemas.openxmlformats.org/officeDocument/2006/relationships/notesSlide" Target="/ppt/notesSlides/notesSlide7.xml" Id="R01bf543e2e4046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D6FA2-70FC-435B-BBA7-0C4FD89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05080-ED46-4B25-9C09-4E2B9F68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A5983-974F-4E01-A2CF-5DB456EE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36E9D-1A26-4B1F-B31D-CB5EF29E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with a</a:t>
            </a:r>
          </a:p>
          <a:p xmlns:a="http://schemas.openxmlformats.org/drawingml/2006/main">
            <a:pPr algn="l">
              <a:def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18F64-7CE9-48EC-B1D1-BCD8D11B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StudyForge connects learning, recall and practice in one student-first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D5043-2DFA-45C7-BF8B-2B5C77D9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B762A-4A30-4E63-BF11-6F867D26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CONCISE PRODUCT PITCH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85fdd5875473e"/>
          <a:stretch xmlns:a="http://schemas.openxmlformats.org/drawingml/2006/main"/>
        </p:blipFill>
        <p:spPr>
          <a:xfrm xmlns:a="http://schemas.openxmlformats.org/drawingml/2006/main">
            <a:off x="7524750" y="1452929"/>
            <a:ext cx="3886200" cy="343779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73980-E1DD-42A4-80FB-9ADB486E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F38C7-7614-4961-BF36-E29CEB81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6398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AABF7-C61C-46B4-9B86-135378D8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88F2B-D2F3-47A6-BF55-838CF40D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B59C5-0926-491F-A8D5-054745CF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loses momentum between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0FAC8-239C-4E65-B770-656D1C73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The work is spread across separate places, so students must rebuild the route each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87F2A-92E4-46DD-BD69-901193C4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696A6-ABBD-4FAF-9B42-D5969140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5dedeee5742b5"/>
          <a:stretch xmlns:a="http://schemas.openxmlformats.org/drawingml/2006/main"/>
        </p:blipFill>
        <p:spPr>
          <a:xfrm xmlns:a="http://schemas.openxmlformats.org/drawingml/2006/main">
            <a:off x="821531" y="2571750"/>
            <a:ext cx="2738438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40CE9-ACBF-47E6-920B-4CDF0F2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The core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7C55F-DF87-4FE8-8A71-DF9B9A55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636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move between notes, flashcards and questions without a clear handoff.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0360E-0C06-4E78-AE96-B3AFE48A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636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949BE-6EF5-40EE-8EC3-38219A4B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Practice also stalls when the useful question supply runs out.</a:t>
            </a:r>
          </a:p>
        </p:txBody>
      </p:sp>
    </p:spTree>
    <p:extLst>
      <p:ext uri="{BB962C8B-B14F-4D97-AF65-F5344CB8AC3E}">
        <p14:creationId xmlns:p14="http://schemas.microsoft.com/office/powerpoint/2010/main" val="1044110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46110-7281-41DF-B541-EDCBABB4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CC89F-0902-4F21-98CF-5403D6D9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2C68F-9731-4B6C-81B8-8C45FA49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One connected revision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ACC9C-AF8B-40EF-8109-4016E7EF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Each step prepares the student for the next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4C01C-2411-4E3C-9898-751DD93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6E4D9-4857-4F44-A33C-CD6E29C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0749ea0ba4ac0"/>
          <a:stretch xmlns:a="http://schemas.openxmlformats.org/drawingml/2006/main"/>
        </p:blipFill>
        <p:spPr>
          <a:xfrm xmlns:a="http://schemas.openxmlformats.org/drawingml/2006/main">
            <a:off x="609600" y="2514384"/>
            <a:ext cx="3067050" cy="28579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C6A68-1A39-45AB-B38D-84C78BDF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FF2BB-CCCF-4CAF-B9D2-6A5C4A2E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14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79814-ED06-4CB9-B040-2ED350B4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Focused notes explain the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3FB42-899D-4F04-BFC2-3AACD3F3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E2B0B-A96A-4DB3-AB77-C5180D6F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C91D8-94D2-4F92-A9CF-77214366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9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014C4-0013-46AA-8086-F7B896A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Flashcards bring key ideas 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F8565-1412-4DF7-9EC4-0D7AA3BD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60A1C-AFCB-4BA6-B05B-29120017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FF179-FE7F-4E14-BD22-1335561E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05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00442-FC0C-4FF3-A4C4-A4457F0A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build 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C0349-E75D-4B5A-BAF9-50878C00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A9B6E-BB71-4342-A048-1D6D6222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2FB2C-3B1C-4A28-BF29-6F32A0AA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00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ED197-D3AE-49E1-A0EB-7C1B2777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and papers check readiness</a:t>
            </a:r>
          </a:p>
        </p:txBody>
      </p:sp>
    </p:spTree>
    <p:extLst>
      <p:ext uri="{BB962C8B-B14F-4D97-AF65-F5344CB8AC3E}">
        <p14:creationId xmlns:p14="http://schemas.microsoft.com/office/powerpoint/2010/main" val="788442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63CEF-9B9F-4979-B68C-27543ED5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2955D-FAEB-426A-8DB7-569EEA5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A2BBC-B649-4E9F-92E7-7C5EB44A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994A4-AE44-4388-8670-1A13E6D2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 focused toolkit around the revision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942EF-CAE8-4183-B574-15BA61D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CEE0C-8B0B-4266-BC62-035A5739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106821fc84350"/>
          <a:stretch xmlns:a="http://schemas.openxmlformats.org/drawingml/2006/main"/>
        </p:blipFill>
        <p:spPr>
          <a:xfrm xmlns:a="http://schemas.openxmlformats.org/drawingml/2006/main">
            <a:off x="7677150" y="2734056"/>
            <a:ext cx="3219450" cy="270433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E3680-3AAE-4800-BFD9-896845B4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Revision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1E5A4-F33E-4B60-B794-3D370287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Methods and worked examples organised by topic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22BB8-9CCA-498B-BE4B-EEA84955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B8011-2235-460C-A307-7C250C92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Flashcards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B7EC6-8228-4D97-A25C-EEBD006C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Recall practice from published or uploaded decks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B8031-BE80-42C7-9E36-E02812DB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676C4-4261-4168-81CD-5C7BCC1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A4D55-6CCF-4E63-89DF-33BE1F5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Original questions with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A8DA6-A3D8-49C4-AFEE-A63D849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6EC22-28EE-4495-BF80-CBBC7EA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Testing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233F2-2680-4FCA-89F5-70F2EF32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53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Topic tests with a route toward past papers</a:t>
            </a:r>
          </a:p>
        </p:txBody>
      </p:sp>
    </p:spTree>
    <p:extLst>
      <p:ext uri="{BB962C8B-B14F-4D97-AF65-F5344CB8AC3E}">
        <p14:creationId xmlns:p14="http://schemas.microsoft.com/office/powerpoint/2010/main" val="718129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4DEE4-195A-436D-BCD1-2BEB0D38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8751C-72DE-4E72-A890-241172AF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577C0-8FE4-4C66-9CC7-6A90F4B1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Students keep control of independent revision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1482F-455A-4151-91DB-B7E83CA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 visibility begins only when work is assigned.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8A856-F0BA-4525-902B-5B8ADB48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5EE0C-1BA6-44F1-8870-DE1BB70C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d7a0ed91d4a1d"/>
          <a:stretch xmlns:a="http://schemas.openxmlformats.org/drawingml/2006/main"/>
        </p:blipFill>
        <p:spPr>
          <a:xfrm xmlns:a="http://schemas.openxmlformats.org/drawingml/2006/main">
            <a:off x="704850" y="2620108"/>
            <a:ext cx="3276600" cy="264648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09472-8BC7-4C72-B72C-17052FD6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PRIVATE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BA95B-3108-4AB7-9629-795BB630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Independent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A674B-B77A-4C8F-85B2-16FB02D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do not see a student’s self-directed revision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D47FA-E404-4BDF-A5EB-05E6739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598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6B9B6-310A-47F6-9FD9-903D5456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TRACEABLE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26CF6-5F33-4A50-BEF0-339BE959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01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Assigned homework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487CB-9FDB-4723-857E-A6E61B95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Teachers can review completion and answers for compulsory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9676E-2F26-4BBE-B556-58A5C2BE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F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1896E-1162-4959-B51C-09815950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B115A"/>
                </a:solidFill>
                <a:latin typeface="Helvetica Neue"/>
                <a:ea typeface="Helvetica Neue"/>
                <a:cs typeface="Helvetica Neue"/>
              </a:rPr>
              <a:t>Student access remains free.</a:t>
            </a:r>
          </a:p>
        </p:txBody>
      </p:sp>
    </p:spTree>
    <p:extLst>
      <p:ext uri="{BB962C8B-B14F-4D97-AF65-F5344CB8AC3E}">
        <p14:creationId xmlns:p14="http://schemas.microsoft.com/office/powerpoint/2010/main" val="1249186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69186-B6CA-4E4D-A945-0E64DAC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DDA85-6F58-47F0-A858-5E645CE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B92AB-E3E0-4433-8F2E-71937AA0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A focused school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D03C4-1E51-4A08-B499-5BFEE78D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Proposed scope, subject to agreement with the participating school.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8A091-6F27-4603-AFEF-0C195314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8C491-179E-4301-B519-D495B9C6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8AB56-817B-46D5-A88B-5623B47E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Initial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00D03-E96A-4A1F-97C5-C435F705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733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Maths</a:t>
            </a:r>
          </a:p>
          <a:p xmlns:a="http://schemas.openxmlformats.org/drawingml/2006/main">
            <a:pPr algn="l">
              <a:def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KS4 and below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728D7-FD89-4278-B99F-07FFF266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Start with one defined cohort and a manageable topic range.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4efe434ad4e3c"/>
          <a:stretch xmlns:a="http://schemas.openxmlformats.org/drawingml/2006/main"/>
        </p:blipFill>
        <p:spPr>
          <a:xfrm xmlns:a="http://schemas.openxmlformats.org/drawingml/2006/main">
            <a:off x="4400550" y="2754923"/>
            <a:ext cx="2381250" cy="201490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BAF81-6625-4F91-BA94-F6442748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BF3CB-0532-482D-8001-096226C5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860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Set the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719C0-E57A-45DF-A6DC-3DA18B3B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Agree topics, classes and teacher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E9C2A-0297-4836-A776-89A2E6DD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E0EDB-83CE-48A1-A09E-B3F023E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Run the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6783D-323C-4226-B576-3E2E15A6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Use revision materials and assigned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2CA2E-1098-4352-A3F3-D142710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42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6FD69-097F-4226-BFC5-9249D6C8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9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151D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9E9C8-BA14-49F6-8F29-A2DA2277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96675"/>
                </a:solidFill>
                <a:latin typeface="Helvetica Neue"/>
                <a:ea typeface="Helvetica Neue"/>
                <a:cs typeface="Helvetica Neue"/>
              </a:rPr>
              <a:t>Examine participation, answers and feedback</a:t>
            </a:r>
          </a:p>
        </p:txBody>
      </p:sp>
    </p:spTree>
    <p:extLst>
      <p:ext uri="{BB962C8B-B14F-4D97-AF65-F5344CB8AC3E}">
        <p14:creationId xmlns:p14="http://schemas.microsoft.com/office/powerpoint/2010/main" val="1177330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11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564C7-D91B-4E96-BE80-8D2C7457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160A6-E167-4B74-85AF-B974C79E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EB711-CAF3-4A77-A667-2DA38FC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7E67A-CA92-4426-A0F3-4EABF1E3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 StudyForge with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defined maths cohort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9C278-BDDA-4FC6-8838-1BF81BF4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45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0598A-00E6-40C3-B2BC-D57FFCDB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4D56F-1DC4-4219-AF9F-72170E17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Agree the topic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70C0A-D3EF-4EE6-B54E-B54EE1C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C3D10-AA5E-4DF9-9571-84D09BC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Nominate a teacher 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B8447-70EA-4C0B-B024-E6E94864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4A6A9-2DE6-45BB-B3B4-43B3E478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62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the student cohort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80FEA-DE30-4600-9806-FC10A1E9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3371850" cy="3524250"/>
          </a:xfrm>
          <a:prstGeom xmlns:a="http://schemas.openxmlformats.org/drawingml/2006/main" prst="roundRect">
            <a:avLst>
              <a:gd name="adj" fmla="val 79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12e9c70964741"/>
          <a:stretch xmlns:a="http://schemas.openxmlformats.org/drawingml/2006/main"/>
        </p:blipFill>
        <p:spPr>
          <a:xfrm xmlns:a="http://schemas.openxmlformats.org/drawingml/2006/main">
            <a:off x="8382000" y="2506266"/>
            <a:ext cx="2914650" cy="25503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03A09-2400-48F2-B2D1-8751546C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Free student access. Private independent revision. Traceable assigned homework.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DE5AC-45EB-4433-B335-BC5C8029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7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CE0EE-FE50-4D89-929B-F7F7201D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EFE9F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3799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2026-10-01T03:08:06.4970000Z</dcterms:created>
  <dcterms:modified xsi:type="dcterms:W3CDTF">2026-10-01T03:08:06.4970000Z</dcterms:modified>
</coreProperties>
</file>