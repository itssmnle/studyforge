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f053e9ada841e1" /><Relationship Type="http://schemas.openxmlformats.org/officeDocument/2006/relationships/extended-properties" Target="/docProps/app.xml" Id="R22c71d0dad68478b" /><Relationship Type="http://schemas.openxmlformats.org/officeDocument/2006/relationships/officeDocument" Target="/ppt/presentation.xml" Id="R30fbbd6cc54e45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bd3aae1d6946c2"/>
  </p:sldMasterIdLst>
  <p:notesMasterIdLst>
    <p:notesMasterId xmlns:r="http://schemas.openxmlformats.org/officeDocument/2006/relationships" r:id="R91d63e1756a34df3"/>
  </p:notesMasterIdLst>
  <p:sldIdLst>
    <p:sldId xmlns:r="http://schemas.openxmlformats.org/officeDocument/2006/relationships" id="256" r:id="Rdac584bd40f840d7"/>
    <p:sldId xmlns:r="http://schemas.openxmlformats.org/officeDocument/2006/relationships" id="257" r:id="R930cec54150b454e"/>
    <p:sldId xmlns:r="http://schemas.openxmlformats.org/officeDocument/2006/relationships" id="258" r:id="Rf255098c183d47cd"/>
    <p:sldId xmlns:r="http://schemas.openxmlformats.org/officeDocument/2006/relationships" id="259" r:id="Rb04cf84d20b04fc4"/>
    <p:sldId xmlns:r="http://schemas.openxmlformats.org/officeDocument/2006/relationships" id="260" r:id="R04f83c62708b4ee9"/>
    <p:sldId xmlns:r="http://schemas.openxmlformats.org/officeDocument/2006/relationships" id="261" r:id="R723e2907256045dc"/>
    <p:sldId xmlns:r="http://schemas.openxmlformats.org/officeDocument/2006/relationships" id="262" r:id="Re3c6aa43512341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32bddac8664526" /><Relationship Type="http://schemas.openxmlformats.org/officeDocument/2006/relationships/slideMaster" Target="/ppt/slideMasters/slideMaster1.xml" Id="R06bd3aae1d6946c2" /><Relationship Type="http://schemas.openxmlformats.org/officeDocument/2006/relationships/notesMaster" Target="/ppt/notesMasters/notesMaster1.xml" Id="R91d63e1756a34df3" /><Relationship Type="http://schemas.openxmlformats.org/officeDocument/2006/relationships/presProps" Target="/ppt/presProps.xml" Id="R1414423e275e46c3" /><Relationship Type="http://schemas.openxmlformats.org/officeDocument/2006/relationships/tableStyles" Target="/ppt/tableStyles.xml" Id="Rc4e6fc5dd6a84205" /><Relationship Type="http://schemas.openxmlformats.org/officeDocument/2006/relationships/slide" Target="/ppt/slides/slide1.xml" Id="Rdac584bd40f840d7" /><Relationship Type="http://schemas.openxmlformats.org/officeDocument/2006/relationships/slide" Target="/ppt/slides/slide2.xml" Id="R930cec54150b454e" /><Relationship Type="http://schemas.openxmlformats.org/officeDocument/2006/relationships/slide" Target="/ppt/slides/slide3.xml" Id="Rf255098c183d47cd" /><Relationship Type="http://schemas.openxmlformats.org/officeDocument/2006/relationships/slide" Target="/ppt/slides/slide4.xml" Id="Rb04cf84d20b04fc4" /><Relationship Type="http://schemas.openxmlformats.org/officeDocument/2006/relationships/slide" Target="/ppt/slides/slide5.xml" Id="R04f83c62708b4ee9" /><Relationship Type="http://schemas.openxmlformats.org/officeDocument/2006/relationships/slide" Target="/ppt/slides/slide6.xml" Id="R723e2907256045dc" /><Relationship Type="http://schemas.openxmlformats.org/officeDocument/2006/relationships/slide" Target="/ppt/slides/slide7.xml" Id="Re3c6aa43512341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318e7dd7f544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c7ac9494a94038" /><Relationship Type="http://schemas.openxmlformats.org/officeDocument/2006/relationships/notesMaster" Target="/ppt/notesMasters/notesMaster1.xml" Id="Rdf813c3db6fd41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6d806d08114bb0" /><Relationship Type="http://schemas.openxmlformats.org/officeDocument/2006/relationships/notesMaster" Target="/ppt/notesMasters/notesMaster1.xml" Id="Rdf8d013d6b0e48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3b15cf01a64f09" /><Relationship Type="http://schemas.openxmlformats.org/officeDocument/2006/relationships/notesMaster" Target="/ppt/notesMasters/notesMaster1.xml" Id="R7c7ea0f52fb349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295f0a6c374728" /><Relationship Type="http://schemas.openxmlformats.org/officeDocument/2006/relationships/notesMaster" Target="/ppt/notesMasters/notesMaster1.xml" Id="Re6dad8826e7447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592b1a337647af" /><Relationship Type="http://schemas.openxmlformats.org/officeDocument/2006/relationships/notesMaster" Target="/ppt/notesMasters/notesMaster1.xml" Id="R92fb5417455c46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906210f2674037" /><Relationship Type="http://schemas.openxmlformats.org/officeDocument/2006/relationships/notesMaster" Target="/ppt/notesMasters/notesMaster1.xml" Id="R57b680bb8b8341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ae7c25178f4cb9" /><Relationship Type="http://schemas.openxmlformats.org/officeDocument/2006/relationships/notesMaster" Target="/ppt/notesMasters/notesMaster1.xml" Id="R8e7f3ac36a5944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The positioning sentence reflects the current About page and topic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Problem framing comes from the previously supplied pitch scope and the current product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The four-step route reflects the current topic hub: Learn, Remember, Practice and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Feature descriptions come from current StudyForge routes and interface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Privacy and free-access boundaries come from previously supplied StudyForge requirements and current dashboard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Pilot scope is a proposal, not a claim of an existing school rollout or current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The final ask is intentionally limited to a defined pilot. No numerical outcomes are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343aff55474c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d7b094a7994711" /><Relationship Type="http://schemas.openxmlformats.org/officeDocument/2006/relationships/slideLayout" Target="/ppt/slideLayouts/slideLayout1.xml" Id="Racbd3976ad9849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bd3976ad9849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14ce665ed4e3e" /><Relationship Type="http://schemas.openxmlformats.org/officeDocument/2006/relationships/image" Target="/ppt/media/image.png" Id="R5ae43c8e57264f04" /><Relationship Type="http://schemas.openxmlformats.org/officeDocument/2006/relationships/notesSlide" Target="/ppt/notesSlides/notesSlide1.xml" Id="Ra5a60be3785f42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a125878834215" /><Relationship Type="http://schemas.openxmlformats.org/officeDocument/2006/relationships/image" Target="/ppt/media/image2.png" Id="Rd221646037e84423" /><Relationship Type="http://schemas.openxmlformats.org/officeDocument/2006/relationships/notesSlide" Target="/ppt/notesSlides/notesSlide2.xml" Id="R6babf189535d49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e375c16a34c44" /><Relationship Type="http://schemas.openxmlformats.org/officeDocument/2006/relationships/image" Target="/ppt/media/image3.png" Id="Rfe9be49dfbf04dbc" /><Relationship Type="http://schemas.openxmlformats.org/officeDocument/2006/relationships/notesSlide" Target="/ppt/notesSlides/notesSlide3.xml" Id="Raa1aeb8400c040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a30d01eb64b1b" /><Relationship Type="http://schemas.openxmlformats.org/officeDocument/2006/relationships/image" Target="/ppt/media/image4.png" Id="R5bae8064ea044217" /><Relationship Type="http://schemas.openxmlformats.org/officeDocument/2006/relationships/notesSlide" Target="/ppt/notesSlides/notesSlide4.xml" Id="R0cd1cb3b81cd41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222d5c4974cb6" /><Relationship Type="http://schemas.openxmlformats.org/officeDocument/2006/relationships/image" Target="/ppt/media/image5.png" Id="R09b0195e99254e86" /><Relationship Type="http://schemas.openxmlformats.org/officeDocument/2006/relationships/notesSlide" Target="/ppt/notesSlides/notesSlide5.xml" Id="R05faf48f61a04d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f0e2443524de8" /><Relationship Type="http://schemas.openxmlformats.org/officeDocument/2006/relationships/image" Target="/ppt/media/image6.png" Id="Rf7f784a6b9ec4c4e" /><Relationship Type="http://schemas.openxmlformats.org/officeDocument/2006/relationships/notesSlide" Target="/ppt/notesSlides/notesSlide6.xml" Id="R712be43618dd46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47fd7ddcf488b" /><Relationship Type="http://schemas.openxmlformats.org/officeDocument/2006/relationships/image" Target="/ppt/media/image7.png" Id="Rb748d0ba3fee4787" /><Relationship Type="http://schemas.openxmlformats.org/officeDocument/2006/relationships/notesSlide" Target="/ppt/notesSlides/notesSlide7.xml" Id="Rf6e498eb16af4b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6A379-CA80-410E-90E8-4F131946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50205-93CE-4693-8661-1FFC9805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4F3B7-ABBA-4888-81FB-D3EE0362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F996E-709B-49EC-B793-0701A292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Revision with a</a:t>
            </a:r>
          </a:p>
          <a:p xmlns:a="http://schemas.openxmlformats.org/drawingml/2006/main">
            <a:pPr algn="l">
              <a:defRPr sz="45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clear next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210A8-6D85-4C49-8684-53EB77CD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StudyForge connects learning, recall and practice in one student-first platform.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F8E5C-4225-4AB5-82A8-128C0E7A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E020C-67BD-4B94-A55F-00E30480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CONCISE PRODUCT PITCH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43c8e57264f04"/>
          <a:stretch xmlns:a="http://schemas.openxmlformats.org/drawingml/2006/main"/>
        </p:blipFill>
        <p:spPr>
          <a:xfrm xmlns:a="http://schemas.openxmlformats.org/drawingml/2006/main">
            <a:off x="7524750" y="1452929"/>
            <a:ext cx="3886200" cy="343779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B84D5-0ECD-4965-93D7-1E93E562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4D80E-DEDF-4620-BEB1-972BCB72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055604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8F40D-05DA-4C48-AF2D-DF5A2020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AD96B-9710-42BA-AC77-C6EB3159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FE4CD-C529-4DF4-8E00-3FE5E248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Revision loses momentum between resources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4AA79-8818-4D28-A48F-5BBDACA4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The work is spread across separate places, so students must rebuild the route each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23C6E-BBA6-4A76-B2A8-83C553A4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DAED7-9AF5-4E38-9B58-5CD9D2E4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1646037e84423"/>
          <a:stretch xmlns:a="http://schemas.openxmlformats.org/drawingml/2006/main"/>
        </p:blipFill>
        <p:spPr>
          <a:xfrm xmlns:a="http://schemas.openxmlformats.org/drawingml/2006/main">
            <a:off x="821531" y="2571750"/>
            <a:ext cx="2738438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469B3-0017-47F2-8D4A-104B4F31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The core friction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918E4-5107-410F-A01D-EE0C8FF5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0375"/>
            <a:ext cx="636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Students move between notes, flashcards and questions without a clear handoff.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11F5A-2ACD-47BC-8A81-6278F7F5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10050"/>
            <a:ext cx="636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5DF1C-E626-4D9C-8B58-894DD83F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529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Practice also stalls when the useful question supply runs out.</a:t>
            </a:r>
          </a:p>
        </p:txBody>
      </p:sp>
    </p:spTree>
    <p:extLst>
      <p:ext uri="{BB962C8B-B14F-4D97-AF65-F5344CB8AC3E}">
        <p14:creationId xmlns:p14="http://schemas.microsoft.com/office/powerpoint/2010/main" val="10452191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24CA97-798E-46D6-8DB1-1FA8DAF8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6D809-2C7F-4E5E-9301-CD8C9CC2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092A0-8E7B-4680-AC2F-158E0934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One connected revision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AB7C5-9F48-4067-B3E4-65D5DC4C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Each step prepares the student for the next 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47780-6CA8-49C4-8A07-C2D4586C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071B2-F027-44E8-85D4-34876475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be49dfbf04dbc"/>
          <a:stretch xmlns:a="http://schemas.openxmlformats.org/drawingml/2006/main"/>
        </p:blipFill>
        <p:spPr>
          <a:xfrm xmlns:a="http://schemas.openxmlformats.org/drawingml/2006/main">
            <a:off x="612905" y="2381250"/>
            <a:ext cx="3060441" cy="3124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54B80-6CDB-47BC-9F8F-B2A9E3C2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46D97-6012-4F5F-95F5-9AEBEB85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145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Learn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F0B7D-8E65-464E-AB29-786E621D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622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Focused notes explain the 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709E5-63CF-4D2D-A8B7-4AF0F138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CA98F-6850-4961-B693-ACEFA919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E9AD8-B015-4C3D-96D8-5F0A9CC6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99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4E615-435F-4FF5-B327-D52D0715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Flashcards bring key ideas 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747741-FB14-4D43-AC5B-5BAF8642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100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F3FC5-0A1C-4B1B-AD90-49751403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F8D9E9-6574-445E-B2F7-22E693E1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052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73896D-F1BE-41C6-89C0-91143F0E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529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Original questions build application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D2BC1-FAA9-424F-9A4E-99361204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05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AE3964-0448-4D86-BC05-D732C778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67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26F28C-8B42-4A0B-BF09-0970FFD6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00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C9C448-C8D7-4F8F-BDA6-1CD77EF0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48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Topic tests and papers check readiness</a:t>
            </a:r>
          </a:p>
        </p:txBody>
      </p:sp>
    </p:spTree>
    <p:extLst>
      <p:ext uri="{BB962C8B-B14F-4D97-AF65-F5344CB8AC3E}">
        <p14:creationId xmlns:p14="http://schemas.microsoft.com/office/powerpoint/2010/main" val="10698663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6BA19E-0B68-4939-BD3F-0E586491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256D8-94BF-432B-96FE-4497FA39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FC743-71BA-4D60-8E49-CC2493EF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The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43722-9115-4FB9-B4C1-B6B2D557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A focused toolkit around the revision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4F04E-56E8-405E-B077-7D349EFE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279A2-DF50-4EB2-8485-5EABF8A3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e8064ea044217"/>
          <a:stretch xmlns:a="http://schemas.openxmlformats.org/drawingml/2006/main"/>
        </p:blipFill>
        <p:spPr>
          <a:xfrm xmlns:a="http://schemas.openxmlformats.org/drawingml/2006/main">
            <a:off x="7677150" y="2734056"/>
            <a:ext cx="3219450" cy="270433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9B1B1-DCA9-41FE-8470-9245569E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Revision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12370-23E8-40D2-A845-3149A410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384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Methods and worked examples organised by topic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82A21-B461-4660-8E08-1DECA018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622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CA71F-3B7C-4F79-93CC-805462E1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Flashcards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6D866-2944-4EB6-8302-9C660AD0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766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Recall practice from published or uploaded decks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A8DE8-655D-4A60-91E4-5F58F4AC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622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2A494-6C03-4BC1-B516-5F543797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A7336-4F7A-412C-BB4F-78A812AE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148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Original questions with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465E9-453D-4F7B-AE22-2E3E80F9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622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8D515-0823-467B-85E8-6140E1D0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Testing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6C34D-2042-4B07-949D-603E4535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53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Topic tests with a route toward past papers</a:t>
            </a:r>
          </a:p>
        </p:txBody>
      </p:sp>
    </p:spTree>
    <p:extLst>
      <p:ext uri="{BB962C8B-B14F-4D97-AF65-F5344CB8AC3E}">
        <p14:creationId xmlns:p14="http://schemas.microsoft.com/office/powerpoint/2010/main" val="2316037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E7C23-5425-4704-A8FE-36C4F1B2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3B979-E152-4E91-90D0-2BE63994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0767A-E870-4079-A3F2-B7D5638F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Students keep control of independent revision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2BF16-E7DF-4F63-8400-4733C1A6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Teacher visibility begins only when work is assigned.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881F3-D526-424F-90FE-12BFAB0B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3E8E1-D2A4-4FF4-B6DF-9CC46A2D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0195e99254e86"/>
          <a:stretch xmlns:a="http://schemas.openxmlformats.org/drawingml/2006/main"/>
        </p:blipFill>
        <p:spPr>
          <a:xfrm xmlns:a="http://schemas.openxmlformats.org/drawingml/2006/main">
            <a:off x="853168" y="2552700"/>
            <a:ext cx="2979964" cy="2781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1499E-B878-43BE-BB3F-3E070271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PRIVATE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C601C-1FAB-4F24-8692-1BFBDB27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479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Independent study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AA7E5-DF24-4778-BBF8-6304B74F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Teachers do not see a student’s self-directed revision activity.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FDFBB-3EE7-4F64-9744-1A3AEF2E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71950"/>
            <a:ext cx="598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7A1CC-BE33-426C-A82C-F9F32998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57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TRACEABLE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21D11-6DE4-45F1-8A6C-F751841D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101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Assigned homework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7ED8C-5407-4C49-96E8-C409A82C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244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Teachers can review completion and answers for compulsory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25644-AC44-47B5-9B6C-29EE083F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FE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4FE59-3E53-43DD-8556-1A87FB7C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38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B1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B115A"/>
                </a:solidFill>
                <a:latin typeface="Helvetica Neue"/>
                <a:ea typeface="Helvetica Neue"/>
                <a:cs typeface="Helvetica Neue"/>
              </a:rPr>
              <a:t>Student access remains free.</a:t>
            </a:r>
          </a:p>
        </p:txBody>
      </p:sp>
    </p:spTree>
    <p:extLst>
      <p:ext uri="{BB962C8B-B14F-4D97-AF65-F5344CB8AC3E}">
        <p14:creationId xmlns:p14="http://schemas.microsoft.com/office/powerpoint/2010/main" val="6412705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C923F5-4680-4DA1-95F7-8084F455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33FD7-A869-4653-BA9A-DB69C91C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FD730-B643-4CCB-99CF-60DEDB8F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A focused school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572B6-A4D7-42E5-858B-2FED7907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Proposed scope, subject to agreement with the participating school.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B83FC-9173-43DE-A5A1-542F8B7A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32EA6-3360-47D9-AA17-A1E525B7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63481-4991-44A6-AEDC-8B9C1610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Initial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AD771-5442-451E-8A14-585426E4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733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Maths</a:t>
            </a:r>
          </a:p>
          <a:p xmlns:a="http://schemas.openxmlformats.org/drawingml/2006/main">
            <a:pPr algn="l">
              <a:defRPr sz="337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KS4 and below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487CF-4361-49DC-A89A-92B03382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81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Start with one defined cohort and a manageable topic range.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784a6b9ec4c4e"/>
          <a:stretch xmlns:a="http://schemas.openxmlformats.org/drawingml/2006/main"/>
        </p:blipFill>
        <p:spPr>
          <a:xfrm xmlns:a="http://schemas.openxmlformats.org/drawingml/2006/main">
            <a:off x="4400550" y="2781860"/>
            <a:ext cx="2381250" cy="1961029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7E411-D90C-4E61-8DC1-86414182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146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EE6EC8-2B2D-40FF-A610-D1A8A4A1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860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Set the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84ECE-507C-4B75-807D-0516AE36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8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Agree topics, classes and teacher contacts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F0A8D0-8DA6-495E-82AC-20ED57C9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814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E45DC-FFB8-472C-9688-1C7F1BF9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52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Run the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A8C3E-4E20-4C3D-B518-DCFDCB35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243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Use revision materials and assigned tasks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CD1C6-4490-43CA-BA98-DE28578F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48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7192E-4814-4E32-8A75-75C3BB0B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196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Review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BCD8D8-0105-4A5C-AFA1-6920B766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911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3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Examine participation, answers and feedback</a:t>
            </a:r>
          </a:p>
        </p:txBody>
      </p:sp>
    </p:spTree>
    <p:extLst>
      <p:ext uri="{BB962C8B-B14F-4D97-AF65-F5344CB8AC3E}">
        <p14:creationId xmlns:p14="http://schemas.microsoft.com/office/powerpoint/2010/main" val="1422296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B11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DF08A-384C-4645-A8FA-2FE339A6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2DAA9-F2D6-46BF-9FF8-B04D6955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9D76C-5441-4C30-AE58-0610BC3C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The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3F71E-0ED8-44B2-A57F-DB6B4AB4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Pilot StudyForge with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defined maths cohort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96A0F-5E57-4F50-B404-6308FFD5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45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DE070-80FA-4402-9236-ED67FCEF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36E45-3EB5-4BC9-9423-C635AE92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433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Agree the topic range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4FAE7-FA4B-4D98-A759-F51FB878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E6B89-19E8-489F-AED6-8748DD57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529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Nominate a teacher contact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1607E-7746-4ED8-BB26-E6CA194B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A5EE8-B8BD-4203-A9A7-5BEA02B0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625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Choose the student cohort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8d0ba3fee4787"/>
          <a:stretch xmlns:a="http://schemas.openxmlformats.org/drawingml/2006/main"/>
        </p:blipFill>
        <p:spPr>
          <a:xfrm xmlns:a="http://schemas.openxmlformats.org/drawingml/2006/main">
            <a:off x="8295084" y="2209800"/>
            <a:ext cx="3012281" cy="3143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BBB2D-EAF5-4317-BDF4-195EED42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Free student access. Private independent revision. Traceable assigned homework.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E0F0B-F286-48CE-913F-A3C1BA59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7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84404-ADF2-4C17-8111-5FB247A9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18720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2026-10-01T03:05:31.8170000Z</dcterms:created>
  <dcterms:modified xsi:type="dcterms:W3CDTF">2026-10-01T03:05:31.8180000Z</dcterms:modified>
</coreProperties>
</file>