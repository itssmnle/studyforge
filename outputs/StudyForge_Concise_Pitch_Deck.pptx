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66071ada8f42df" /><Relationship Type="http://schemas.openxmlformats.org/officeDocument/2006/relationships/extended-properties" Target="/docProps/app.xml" Id="Rc8d91b3b34a04f53" /><Relationship Type="http://schemas.openxmlformats.org/officeDocument/2006/relationships/officeDocument" Target="/ppt/presentation.xml" Id="Rd713ae6388534e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73808df4b14fe5"/>
  </p:sldMasterIdLst>
  <p:notesMasterIdLst>
    <p:notesMasterId xmlns:r="http://schemas.openxmlformats.org/officeDocument/2006/relationships" r:id="R37c78ad9a3894e94"/>
  </p:notesMasterIdLst>
  <p:sldIdLst>
    <p:sldId xmlns:r="http://schemas.openxmlformats.org/officeDocument/2006/relationships" id="256" r:id="R1fb9af9544a544b0"/>
    <p:sldId xmlns:r="http://schemas.openxmlformats.org/officeDocument/2006/relationships" id="257" r:id="Rff0f1c910e7844fc"/>
    <p:sldId xmlns:r="http://schemas.openxmlformats.org/officeDocument/2006/relationships" id="258" r:id="R4d366745b2054f46"/>
    <p:sldId xmlns:r="http://schemas.openxmlformats.org/officeDocument/2006/relationships" id="259" r:id="R6ca9ec81ce4c49e3"/>
    <p:sldId xmlns:r="http://schemas.openxmlformats.org/officeDocument/2006/relationships" id="260" r:id="R67a52cb959b94d22"/>
    <p:sldId xmlns:r="http://schemas.openxmlformats.org/officeDocument/2006/relationships" id="261" r:id="Ra4a12f546d3b4c18"/>
    <p:sldId xmlns:r="http://schemas.openxmlformats.org/officeDocument/2006/relationships" id="262" r:id="R2b6d4fb74d9241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0c865f80b4610" /><Relationship Type="http://schemas.openxmlformats.org/officeDocument/2006/relationships/slideMaster" Target="/ppt/slideMasters/slideMaster1.xml" Id="Rae73808df4b14fe5" /><Relationship Type="http://schemas.openxmlformats.org/officeDocument/2006/relationships/notesMaster" Target="/ppt/notesMasters/notesMaster1.xml" Id="R37c78ad9a3894e94" /><Relationship Type="http://schemas.openxmlformats.org/officeDocument/2006/relationships/presProps" Target="/ppt/presProps.xml" Id="R3ab856588ce2424e" /><Relationship Type="http://schemas.openxmlformats.org/officeDocument/2006/relationships/tableStyles" Target="/ppt/tableStyles.xml" Id="R42161eaddc764e5e" /><Relationship Type="http://schemas.openxmlformats.org/officeDocument/2006/relationships/slide" Target="/ppt/slides/slide1.xml" Id="R1fb9af9544a544b0" /><Relationship Type="http://schemas.openxmlformats.org/officeDocument/2006/relationships/slide" Target="/ppt/slides/slide2.xml" Id="Rff0f1c910e7844fc" /><Relationship Type="http://schemas.openxmlformats.org/officeDocument/2006/relationships/slide" Target="/ppt/slides/slide3.xml" Id="R4d366745b2054f46" /><Relationship Type="http://schemas.openxmlformats.org/officeDocument/2006/relationships/slide" Target="/ppt/slides/slide4.xml" Id="R6ca9ec81ce4c49e3" /><Relationship Type="http://schemas.openxmlformats.org/officeDocument/2006/relationships/slide" Target="/ppt/slides/slide5.xml" Id="R67a52cb959b94d22" /><Relationship Type="http://schemas.openxmlformats.org/officeDocument/2006/relationships/slide" Target="/ppt/slides/slide6.xml" Id="Ra4a12f546d3b4c18" /><Relationship Type="http://schemas.openxmlformats.org/officeDocument/2006/relationships/slide" Target="/ppt/slides/slide7.xml" Id="R2b6d4fb74d92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b6cc288bda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8ca6bdd8d41b2" /><Relationship Type="http://schemas.openxmlformats.org/officeDocument/2006/relationships/notesMaster" Target="/ppt/notesMasters/notesMaster1.xml" Id="Rfb37ebf24a8445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505e233b3413c" /><Relationship Type="http://schemas.openxmlformats.org/officeDocument/2006/relationships/notesMaster" Target="/ppt/notesMasters/notesMaster1.xml" Id="R7642b67b3de047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9255725294f0c" /><Relationship Type="http://schemas.openxmlformats.org/officeDocument/2006/relationships/notesMaster" Target="/ppt/notesMasters/notesMaster1.xml" Id="R4d031b2acc8146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ed948782c94242" /><Relationship Type="http://schemas.openxmlformats.org/officeDocument/2006/relationships/notesMaster" Target="/ppt/notesMasters/notesMaster1.xml" Id="Rc4ebfa1d612143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03e234469423d" /><Relationship Type="http://schemas.openxmlformats.org/officeDocument/2006/relationships/notesMaster" Target="/ppt/notesMasters/notesMaster1.xml" Id="Re356fac64244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2de003c6774766" /><Relationship Type="http://schemas.openxmlformats.org/officeDocument/2006/relationships/notesMaster" Target="/ppt/notesMasters/notesMaster1.xml" Id="R004435055dfb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4549ea98641d1" /><Relationship Type="http://schemas.openxmlformats.org/officeDocument/2006/relationships/notesMaster" Target="/ppt/notesMasters/notesMaster1.xml" Id="Re96dbc44347841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positioning sentence reflects the current About page and topic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Problem framing comes from the previously supplied pitch scope and the current product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four-step route reflects the current topic hub: Learn, Remember, Practice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Feature descriptions come from current StudyForge routes and interface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Privacy and free-access boundaries come from previously supplied StudyForge requirements and current dashboard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Pilot scope is a proposal, not a claim of an existing school rollout or current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final ask is intentionally limited to a defined pilot. No numerical outcomes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cef1664984a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9d41a8369a49a9" /><Relationship Type="http://schemas.openxmlformats.org/officeDocument/2006/relationships/slideLayout" Target="/ppt/slideLayouts/slideLayout1.xml" Id="Rd94285fe046b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4285fe046b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cbcfe91c74d65" /><Relationship Type="http://schemas.openxmlformats.org/officeDocument/2006/relationships/image" Target="/ppt/media/image.png" Id="Re96546175d804380" /><Relationship Type="http://schemas.openxmlformats.org/officeDocument/2006/relationships/image" Target="/ppt/media/image.svg" Id="R15932ffd3e2d476e" /><Relationship Type="http://schemas.openxmlformats.org/officeDocument/2006/relationships/notesSlide" Target="/ppt/notesSlides/notesSlide1.xml" Id="Rf49184a106a748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fb38f4af1486f" /><Relationship Type="http://schemas.openxmlformats.org/officeDocument/2006/relationships/image" Target="/ppt/media/image2.png" Id="Rd965aee74c3344d8" /><Relationship Type="http://schemas.openxmlformats.org/officeDocument/2006/relationships/image" Target="/ppt/media/image2.svg" Id="Rf7cd3a316f764e99" /><Relationship Type="http://schemas.openxmlformats.org/officeDocument/2006/relationships/notesSlide" Target="/ppt/notesSlides/notesSlide2.xml" Id="R91acf539c736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1d0b089c400c" /><Relationship Type="http://schemas.openxmlformats.org/officeDocument/2006/relationships/image" Target="/ppt/media/image3.png" Id="R5ae1f9d9de4242ab" /><Relationship Type="http://schemas.openxmlformats.org/officeDocument/2006/relationships/image" Target="/ppt/media/image3.svg" Id="Rc1775571a9724717" /><Relationship Type="http://schemas.openxmlformats.org/officeDocument/2006/relationships/notesSlide" Target="/ppt/notesSlides/notesSlide3.xml" Id="R70cf9240aef847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a12d237584aa8" /><Relationship Type="http://schemas.openxmlformats.org/officeDocument/2006/relationships/image" Target="/ppt/media/image4.png" Id="Rc2a0792322854714" /><Relationship Type="http://schemas.openxmlformats.org/officeDocument/2006/relationships/image" Target="/ppt/media/image4.svg" Id="R82398984e57042ce" /><Relationship Type="http://schemas.openxmlformats.org/officeDocument/2006/relationships/notesSlide" Target="/ppt/notesSlides/notesSlide4.xml" Id="R62aa5bf50e93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b4d9aef74c66" /><Relationship Type="http://schemas.openxmlformats.org/officeDocument/2006/relationships/image" Target="/ppt/media/image5.png" Id="R2878af7239934a9e" /><Relationship Type="http://schemas.openxmlformats.org/officeDocument/2006/relationships/image" Target="/ppt/media/image5.svg" Id="Ra743cc88e8fe41ec" /><Relationship Type="http://schemas.openxmlformats.org/officeDocument/2006/relationships/notesSlide" Target="/ppt/notesSlides/notesSlide5.xml" Id="R354d58166093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f311d83ee4a51" /><Relationship Type="http://schemas.openxmlformats.org/officeDocument/2006/relationships/image" Target="/ppt/media/image6.png" Id="Rfb04ef2b6bf44b1c" /><Relationship Type="http://schemas.openxmlformats.org/officeDocument/2006/relationships/image" Target="/ppt/media/image6.svg" Id="R26aa381981964f08" /><Relationship Type="http://schemas.openxmlformats.org/officeDocument/2006/relationships/notesSlide" Target="/ppt/notesSlides/notesSlide6.xml" Id="R63e8a219934d49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35a52446b4de7" /><Relationship Type="http://schemas.openxmlformats.org/officeDocument/2006/relationships/image" Target="/ppt/media/image7.png" Id="R920606f87456483f" /><Relationship Type="http://schemas.openxmlformats.org/officeDocument/2006/relationships/image" Target="/ppt/media/image7.svg" Id="R47438890b78d4922" /><Relationship Type="http://schemas.openxmlformats.org/officeDocument/2006/relationships/notesSlide" Target="/ppt/notesSlides/notesSlide7.xml" Id="Rc3b39f567e62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EA0D8-9FC6-4B91-BF0B-0FD5EFB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F628E-0E94-4615-B520-D60D2FB7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73072-AF6D-4BC5-ABCE-D317E46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7E9CA-812D-4C50-A846-E9CDF0A5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with a</a:t>
            </a:r>
          </a:p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93132-9E2F-4FBB-8223-E2F97242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StudyForge connects learning, recall and practice in one student-first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CB7CF-0770-4A1B-AC01-22068136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52B5D-0115-4B42-ADFD-1EA21BC1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CONCISE PRODUCT PITCH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546175d804380">
            <a:extLst>
              <a:ext uri="{96DAC541-7B7A-43D3-8B79-37D633B846F1}">
                <asvg:svgBlip xmlns:asvg="http://schemas.microsoft.com/office/drawing/2016/SVG/main" r:embed="R15932ffd3e2d476e"/>
              </a:ext>
            </a:extLst>
          </a:blip>
          <a:srcRect xmlns:a="http://schemas.openxmlformats.org/drawingml/2006/main" l="0" t="2000" r="85000" b="75000"/>
          <a:stretch xmlns:a="http://schemas.openxmlformats.org/drawingml/2006/main"/>
        </p:blipFill>
        <p:spPr>
          <a:xfrm xmlns:a="http://schemas.openxmlformats.org/drawingml/2006/main">
            <a:off x="7524750" y="1123950"/>
            <a:ext cx="388620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8AB46-6747-4A44-B3A1-06F5910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8D038-E39A-47BE-8793-A8E73BE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7446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0B1E2-A193-4A8B-A92F-CB755821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686AF-785F-4FB0-A8EB-298736F7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FF590-AA30-4AB7-A085-CE7FF95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loses momentum between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10957-DA0F-4D39-A188-40659E7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The work is spread across separate places, so students must rebuild the route each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3E299-6ADA-4CCE-8A10-BDC2486D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FC294-D28E-40B0-B3DB-7C4A1B3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5aee74c3344d8">
            <a:extLst>
              <a:ext uri="{96DAC541-7B7A-43D3-8B79-37D633B846F1}">
                <asvg:svgBlip xmlns:asvg="http://schemas.microsoft.com/office/drawing/2016/SVG/main" r:embed="Rf7cd3a316f764e99"/>
              </a:ext>
            </a:extLst>
          </a:blip>
          <a:srcRect xmlns:a="http://schemas.openxmlformats.org/drawingml/2006/main" l="50000" t="2000" r="36000" b="73000"/>
          <a:stretch xmlns:a="http://schemas.openxmlformats.org/drawingml/2006/main"/>
        </p:blipFill>
        <p:spPr>
          <a:xfrm xmlns:a="http://schemas.openxmlformats.org/drawingml/2006/main">
            <a:off x="762000" y="25717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DF91F-AA3F-4B90-BC3E-16FEFE7D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The core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D279-EA94-46CD-A674-623C172C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636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move between notes, flashcards and questions without a clear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DF56C-BF07-4F22-8D2D-ADF0F7A6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636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77034-F13D-4C33-9E82-F89A20E8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Practice also stalls when the useful question supply runs out.</a:t>
            </a:r>
          </a:p>
        </p:txBody>
      </p:sp>
    </p:spTree>
    <p:extLst>
      <p:ext uri="{BB962C8B-B14F-4D97-AF65-F5344CB8AC3E}">
        <p14:creationId xmlns:p14="http://schemas.microsoft.com/office/powerpoint/2010/main" val="150227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F3DB8-1FC7-4D81-B8EC-4BA94CF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A0544-2CC5-4FA8-861B-2D37A651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73EBE-5F13-469B-9D15-0E6A09C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One connected revision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CC20D-E739-4C92-AC56-E95BA0C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Each step prepares the student for the next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817CA-6527-461B-A4D8-7DF66F0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47847-89EB-4E6B-A3EC-3E01964F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1f9d9de4242ab">
            <a:extLst>
              <a:ext uri="{96DAC541-7B7A-43D3-8B79-37D633B846F1}">
                <asvg:svgBlip xmlns:asvg="http://schemas.microsoft.com/office/drawing/2016/SVG/main" r:embed="Rc1775571a9724717"/>
              </a:ext>
            </a:extLst>
          </a:blip>
          <a:srcRect xmlns:a="http://schemas.openxmlformats.org/drawingml/2006/main" l="0" t="77000" r="84000" b="0"/>
          <a:stretch xmlns:a="http://schemas.openxmlformats.org/drawingml/2006/main"/>
        </p:blipFill>
        <p:spPr>
          <a:xfrm xmlns:a="http://schemas.openxmlformats.org/drawingml/2006/main">
            <a:off x="609600" y="2381250"/>
            <a:ext cx="3067050" cy="3124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6AD22-B177-4C3A-850C-9CDD39C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A48E5-A13E-40E9-8D9F-997B3EF0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14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D28C6-0875-44E3-86FA-DDD3C09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Focused notes explain the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E5FBD-7D68-4429-BF54-B9E3AF8C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35866-F2C0-4F8D-B7AA-9C06F32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51F5D-B10D-4590-8ED5-4772791D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9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56FA0-9E97-49B3-9631-C485463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Flashcards bring key ideas 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229E2-DD93-4B68-9EAB-0411EBFB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C3818-9E40-46FF-9575-0B6BC08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A3AB8-F3B0-4957-A5AD-B4E58E7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FCC1E-CC27-4FF1-9E4A-12181BA5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build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D411E-F7FF-41DF-B789-3A46C8F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189EC-0F87-46CA-8241-93C3CC83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6160F-890F-4B74-819A-EF33B44B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8872D-8A57-4256-968B-D025B5A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and papers check readiness</a:t>
            </a:r>
          </a:p>
        </p:txBody>
      </p:sp>
    </p:spTree>
    <p:extLst>
      <p:ext uri="{BB962C8B-B14F-4D97-AF65-F5344CB8AC3E}">
        <p14:creationId xmlns:p14="http://schemas.microsoft.com/office/powerpoint/2010/main" val="1767242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A76A4-2DA4-4C68-8B49-8F727D0A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2A905-E42F-48A0-A3C0-0C2187E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95337-6DFB-401A-B034-6A0B6102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B9A84-D2DE-4A9E-973B-B01D1ABF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 focused toolkit around the revision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1AC4F-C872-442C-8BD1-AE1AD45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754A6-59C1-46C2-BC0C-6B6858E5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0792322854714">
            <a:extLst>
              <a:ext uri="{96DAC541-7B7A-43D3-8B79-37D633B846F1}">
                <asvg:svgBlip xmlns:asvg="http://schemas.microsoft.com/office/drawing/2016/SVG/main" r:embed="R82398984e57042ce"/>
              </a:ext>
            </a:extLst>
          </a:blip>
          <a:srcRect xmlns:a="http://schemas.openxmlformats.org/drawingml/2006/main" l="48000" t="40000" r="36000" b="38000"/>
          <a:stretch xmlns:a="http://schemas.openxmlformats.org/drawingml/2006/main"/>
        </p:blipFill>
        <p:spPr>
          <a:xfrm xmlns:a="http://schemas.openxmlformats.org/drawingml/2006/main">
            <a:off x="7677150" y="2514600"/>
            <a:ext cx="32194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2EE31-2E77-4DA6-8D95-6CCF1FCA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68826-EF4F-4D5D-83FC-DCA4F40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Methods and worked examples organised by 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3FF0D-D3C3-496C-9D27-51CBFFDF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4BDCA-5FD2-42E5-B128-AAF74EB1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Flashcards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640F9-689F-459F-ADF3-53F13E46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Recall practice from published or uploaded decks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0542C-E7F7-401C-97A7-54C8BF0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67DA2-C593-4C4B-971A-0F3141E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65E8E-F08C-4B81-A97C-EC48766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with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049C2-2AA2-462A-ADCE-6FE328D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590BC-E878-412E-8C0D-303E915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1B5A9-ECFB-48C9-A3D0-62239F52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with a route toward past papers</a:t>
            </a:r>
          </a:p>
        </p:txBody>
      </p:sp>
    </p:spTree>
    <p:extLst>
      <p:ext uri="{BB962C8B-B14F-4D97-AF65-F5344CB8AC3E}">
        <p14:creationId xmlns:p14="http://schemas.microsoft.com/office/powerpoint/2010/main" val="7420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0093B-3ACA-4D61-AC01-1F45EAA9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0CFB9-8935-49B4-A260-5E79CA4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0112A-62CD-4977-A98E-742E923A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keep control of independent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32BA8-0991-4D41-8012-523286A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 visibility begins only when work is assigned.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F4FF5-1C22-4C4C-8207-C13840A3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887F9-C9D3-49DF-B8A3-9DEC0EF1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8af7239934a9e">
            <a:extLst>
              <a:ext uri="{96DAC541-7B7A-43D3-8B79-37D633B846F1}">
                <asvg:svgBlip xmlns:asvg="http://schemas.microsoft.com/office/drawing/2016/SVG/main" r:embed="Ra743cc88e8fe41ec"/>
              </a:ext>
            </a:extLst>
          </a:blip>
          <a:srcRect xmlns:a="http://schemas.openxmlformats.org/drawingml/2006/main" l="62000" t="23000" r="22000" b="48000"/>
          <a:stretch xmlns:a="http://schemas.openxmlformats.org/drawingml/2006/main"/>
        </p:blipFill>
        <p:spPr>
          <a:xfrm xmlns:a="http://schemas.openxmlformats.org/drawingml/2006/main">
            <a:off x="704850" y="2552700"/>
            <a:ext cx="3276600" cy="2781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E2DE5-64B6-4651-99BE-4970160D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5A18B-D1DE-4747-9CAD-5D5E239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Independent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FB172-4820-47D4-BC66-B5BBBB7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do not see a student’s self-directed revision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86ED6-3307-416D-A494-34C9E51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EBEB1-E186-429C-AB28-78637D5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6105C-34AC-4C85-B497-108F824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Assigned homework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07115-423A-4D85-BE69-F48D3B4F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can review completion and answers for compulsory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2A474-2189-40E4-9D35-B8E43AD0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1506A-7545-4AC2-977B-2167A83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rPr>
              <a:t>Student access remains free.</a:t>
            </a:r>
          </a:p>
        </p:txBody>
      </p:sp>
    </p:spTree>
    <p:extLst>
      <p:ext uri="{BB962C8B-B14F-4D97-AF65-F5344CB8AC3E}">
        <p14:creationId xmlns:p14="http://schemas.microsoft.com/office/powerpoint/2010/main" val="539306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CF935-864C-49B3-8E3C-630D069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A4375-8FC4-447F-9E90-8EA0057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A4F95-07B9-4CF6-B026-FE2FBDB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 focused school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E272B-49A5-4374-BDBB-096D6838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Proposed scope, subject to agreement with the participating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9B4DC-299F-4015-80A1-70DBD4C2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CB859-EEB5-4E9B-8066-4A2ED90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01B99-D500-4AB9-A33E-B9E76E1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Initial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A2665-E7E6-4B24-A68B-3E02E485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733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Maths</a:t>
            </a:r>
          </a:p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KS4 and below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1B93B-321F-48A0-9CA6-293830F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Start with one defined cohort and a manageable topic range.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4ef2b6bf44b1c">
            <a:extLst>
              <a:ext uri="{96DAC541-7B7A-43D3-8B79-37D633B846F1}">
                <asvg:svgBlip xmlns:asvg="http://schemas.microsoft.com/office/drawing/2016/SVG/main" r:embed="R26aa381981964f08"/>
              </a:ext>
            </a:extLst>
          </a:blip>
          <a:srcRect xmlns:a="http://schemas.openxmlformats.org/drawingml/2006/main" l="86000" t="22000" r="0" b="48000"/>
          <a:stretch xmlns:a="http://schemas.openxmlformats.org/drawingml/2006/main"/>
        </p:blipFill>
        <p:spPr>
          <a:xfrm xmlns:a="http://schemas.openxmlformats.org/drawingml/2006/main">
            <a:off x="4400550" y="2428875"/>
            <a:ext cx="2381250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C74D9-0D22-45CF-A58A-1958F86C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1EB41-E8BB-45E6-A0C1-022A6644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Set the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EFEDF-43D2-4F4B-857C-4370F060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Agree topics, classes and teacher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63029-8A14-4350-B336-B8DFCF69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AE410-09B2-416C-BDD5-4B802299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Run the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614AE-6F83-47F2-8FF3-7DA36817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Use revision materials and assigned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B9C45-A409-47E2-A278-B383E0F7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78BEC-32F3-41F2-942C-C4B6B41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882C3-E8E9-43BB-B4BB-2213F53F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Examine participation, answers and feedback</a:t>
            </a:r>
          </a:p>
        </p:txBody>
      </p:sp>
    </p:spTree>
    <p:extLst>
      <p:ext uri="{BB962C8B-B14F-4D97-AF65-F5344CB8AC3E}">
        <p14:creationId xmlns:p14="http://schemas.microsoft.com/office/powerpoint/2010/main" val="2091318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1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4E9C7-B616-4C92-BD2C-2711536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52ABF-3F2B-448C-9B90-7CAA83C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4A880-0A83-4F78-B3C3-E883D219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5781A-2416-4C6A-BC86-F83E09E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StudyForge with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defined maths cohort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0C82C-9574-466E-B703-9B97F47D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5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946DA-674D-4370-88BA-9DF48020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DEA8C-82B1-4506-AA60-D2C2A1C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Agree the topic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3C9C1-5098-40C4-B761-5231D5B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94CEF-D96D-4AA3-8FA5-CE9194F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Nominate a teacher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174E4-8559-433F-B4B0-82A87A84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7D237-2C21-4AE1-B864-4C949335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the student cohort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606f87456483f">
            <a:extLst>
              <a:ext uri="{96DAC541-7B7A-43D3-8B79-37D633B846F1}">
                <asvg:svgBlip xmlns:asvg="http://schemas.microsoft.com/office/drawing/2016/SVG/main" r:embed="R47438890b78d4922"/>
              </a:ext>
            </a:extLst>
          </a:blip>
          <a:srcRect xmlns:a="http://schemas.openxmlformats.org/drawingml/2006/main" l="86000" t="58000" r="0" b="20000"/>
          <a:stretch xmlns:a="http://schemas.openxmlformats.org/drawingml/2006/main"/>
        </p:blipFill>
        <p:spPr>
          <a:xfrm xmlns:a="http://schemas.openxmlformats.org/drawingml/2006/main">
            <a:off x="8134350" y="2209800"/>
            <a:ext cx="3333750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FF3AF-0CEB-4F64-BB60-8D1D1ED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Free student access. Private independent revision. Traceable assigned homework.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3AB5B-60D7-4145-A560-4DCAA8CB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F6753-AA90-4FA5-9819-3B562489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8610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2026-10-01T03:00:31.8820000Z</dcterms:created>
  <dcterms:modified xsi:type="dcterms:W3CDTF">2026-10-01T03:00:31.8830000Z</dcterms:modified>
</coreProperties>
</file>